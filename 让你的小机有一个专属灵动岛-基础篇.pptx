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D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FD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  <a:latin typeface="Calibri"/>
              </a:defRPr>
            </a:pPr>
            <a:r>
              <a:t>让你的小机有一个专属灵动岛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A6A6A"/>
                </a:solidFill>
                <a:latin typeface="Calibri"/>
              </a:defRPr>
            </a:pPr>
            <a:r>
              <a:t>AI聊天网页 → 安卓APP + 灵动岛悬浮通知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A7757"/>
                </a:solidFill>
                <a:latin typeface="Calibri"/>
              </a:defRPr>
            </a:pPr>
            <a:r>
              <a:t>基础篇教程  ·  纯前端版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Made with ❤️ by 雾化铜 &amp; Clo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635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效果预览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完成后你的APP能做到这些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103120"/>
            <a:ext cx="10058400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255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1A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20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打开APP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直接加载你的AI聊天页面，原生APP体验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383279"/>
            <a:ext cx="10058400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356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1A"/>
                </a:solidFill>
                <a:latin typeface="Calibri"/>
              </a:defRPr>
            </a:pPr>
            <a:r>
              <a:t>🏝️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848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灵动岛通知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8404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收到AI回复时，屏幕顶部弹出黑色药丸通知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663440"/>
            <a:ext cx="10058400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815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1A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765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自动收缩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120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灵动岛展开显示消息，4秒后自动收回成小药丸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635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前提条件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开始之前你需要准备这些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✅  已有可以和AI对话的前端页面（本地HTML / Netlify / 自建服务器均可）</a:t>
            </a:r>
          </a:p>
          <a:p>
            <a:pPr>
              <a:spcAft>
                <a:spcPts val="108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✅  安卓手机</a:t>
            </a:r>
          </a:p>
          <a:p>
            <a:pPr>
              <a:spcAft>
                <a:spcPts val="108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✅  电脑上装好 Node.js（nodejs.org）</a:t>
            </a:r>
          </a:p>
          <a:p>
            <a:pPr>
              <a:spcAft>
                <a:spcPts val="108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✅  电脑上装好 Android Studio（developer.android.com/studio）</a:t>
            </a:r>
          </a:p>
          <a:p>
            <a:pPr>
              <a:spcAft>
                <a:spcPts val="1080"/>
              </a:spcAft>
              <a:defRPr sz="18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💡 （推荐）前端有定时唤醒API的功能，这样灵动岛才能收到主动消息，否则只是装饰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7757"/>
                </a:solidFill>
                <a:latin typeface="Calibri"/>
              </a:defRPr>
            </a:pPr>
            <a:r>
              <a:t>用到的工具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486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6A6A6A"/>
                </a:solidFill>
                <a:latin typeface="Calibri"/>
              </a:defRPr>
            </a:pPr>
            <a:r>
              <a:t>Capacitor — 把网页变成原生APP的框架（免费开源）</a:t>
            </a:r>
          </a:p>
          <a:p>
            <a:pPr>
              <a:spcAft>
                <a:spcPts val="900"/>
              </a:spcAft>
              <a:defRPr sz="1500">
                <a:solidFill>
                  <a:srgbClr val="6A6A6A"/>
                </a:solidFill>
                <a:latin typeface="Calibri"/>
              </a:defRPr>
            </a:pPr>
            <a:r>
              <a:t>Android Studio — 安卓开发环境（免费）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635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第一步：初始化 Capacitor 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在电脑上打开终端（Windows用PowerShell，Mac用终端），运行：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377440"/>
            <a:ext cx="10058400" cy="1645920"/>
          </a:xfrm>
          <a:prstGeom prst="roundRect">
            <a:avLst>
              <a:gd name="adj" fmla="val 2000"/>
            </a:avLst>
          </a:prstGeom>
          <a:solidFill>
            <a:srgbClr val="2C2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spcAft>
                <a:spcPts val="200"/>
              </a:spcAft>
              <a:defRPr sz="1500">
                <a:solidFill>
                  <a:srgbClr val="E8E5DC"/>
                </a:solidFill>
                <a:latin typeface="Consolas"/>
              </a:defRPr>
            </a:pPr>
            <a:r>
              <a:t>mkdir my-ai-app</a:t>
            </a:r>
          </a:p>
          <a:p>
            <a:pPr>
              <a:spcAft>
                <a:spcPts val="200"/>
              </a:spcAft>
              <a:defRPr sz="1500">
                <a:solidFill>
                  <a:srgbClr val="E8E5DC"/>
                </a:solidFill>
                <a:latin typeface="Consolas"/>
              </a:defRPr>
            </a:pPr>
            <a:r>
              <a:t>cd my-ai-app</a:t>
            </a:r>
          </a:p>
          <a:p>
            <a:pPr>
              <a:spcAft>
                <a:spcPts val="200"/>
              </a:spcAft>
              <a:defRPr sz="1500">
                <a:solidFill>
                  <a:srgbClr val="E8E5DC"/>
                </a:solidFill>
                <a:latin typeface="Consolas"/>
              </a:defRPr>
            </a:pPr>
            <a:r>
              <a:t>npm init -y</a:t>
            </a:r>
          </a:p>
          <a:p>
            <a:pPr>
              <a:spcAft>
                <a:spcPts val="200"/>
              </a:spcAft>
              <a:defRPr sz="1500">
                <a:solidFill>
                  <a:srgbClr val="E8E5DC"/>
                </a:solidFill>
                <a:latin typeface="Consolas"/>
              </a:defRPr>
            </a:pPr>
            <a:r>
              <a:t>npm install @capacitor/core @capacitor/cli @capacitor/android</a:t>
            </a:r>
          </a:p>
          <a:p>
            <a:pPr>
              <a:spcAft>
                <a:spcPts val="200"/>
              </a:spcAft>
              <a:defRPr sz="1500">
                <a:solidFill>
                  <a:srgbClr val="E8E5DC"/>
                </a:solidFill>
                <a:latin typeface="Consolas"/>
              </a:defRPr>
            </a:pPr>
            <a:r>
              <a:t>npx cap init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初始化时会问你：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App name → 你的APP名字（比如 MyClaude、MyDeepSeek……随便取）</a:t>
            </a:r>
          </a:p>
          <a:p>
            <a:pPr>
              <a:spcAft>
                <a:spcPts val="96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App Package ID → 包名（比如 com.myname.aiapp）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635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第二步：配置服务器地址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根据你的前端页面在哪里，分三种情况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3200400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0904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784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本地HTML文件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904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6A6A6A"/>
                </a:solidFill>
                <a:latin typeface="Calibri"/>
              </a:defRPr>
            </a:pPr>
            <a:r>
              <a:t>把文件放进 www/ 文件夹</a:t>
            </a:r>
          </a:p>
          <a:p>
            <a:pPr>
              <a:spcAft>
                <a:spcPts val="840"/>
              </a:spcAft>
              <a:defRPr sz="1400">
                <a:solidFill>
                  <a:srgbClr val="6A6A6A"/>
                </a:solidFill>
                <a:latin typeface="Calibri"/>
              </a:defRPr>
            </a:pPr>
            <a:r>
              <a:t>不需要填 server.url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3200400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7520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Netlify / Vercel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520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6A6A6A"/>
                </a:solidFill>
                <a:latin typeface="Calibri"/>
              </a:defRPr>
            </a:pPr>
            <a:r>
              <a:t>server.url 填</a:t>
            </a:r>
          </a:p>
          <a:p>
            <a:pPr>
              <a:spcAft>
                <a:spcPts val="840"/>
              </a:spcAft>
              <a:defRPr sz="1400">
                <a:solidFill>
                  <a:srgbClr val="6A6A6A"/>
                </a:solidFill>
                <a:latin typeface="Calibri"/>
              </a:defRPr>
            </a:pPr>
            <a:r>
              <a:t>https://你的名字.netlify.app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286000"/>
            <a:ext cx="3200400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4136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自建服务器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36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6A6A6A"/>
                </a:solidFill>
                <a:latin typeface="Calibri"/>
              </a:defRPr>
            </a:pPr>
            <a:r>
              <a:t>server.url 填</a:t>
            </a:r>
          </a:p>
          <a:p>
            <a:pPr>
              <a:spcAft>
                <a:spcPts val="840"/>
              </a:spcAft>
              <a:defRPr sz="1400">
                <a:solidFill>
                  <a:srgbClr val="6A6A6A"/>
                </a:solidFill>
                <a:latin typeface="Calibri"/>
              </a:defRPr>
            </a:pPr>
            <a:r>
              <a:t>https://你的域名/chat.html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A7757"/>
                </a:solidFill>
                <a:latin typeface="Calibri"/>
              </a:defRPr>
            </a:pPr>
            <a:r>
              <a:t>⚠️ 别忘了创建空的 www 文件夹：mkdir www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635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第二步（续）：配置文件示例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capacitor.config.json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103120"/>
            <a:ext cx="4754880" cy="3840480"/>
          </a:xfrm>
          <a:prstGeom prst="roundRect">
            <a:avLst>
              <a:gd name="adj" fmla="val 2000"/>
            </a:avLst>
          </a:prstGeom>
          <a:solidFill>
            <a:srgbClr val="2C2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  "appId": "com.myname.aiapp",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  "appName": "MyClaude",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  "webDir": "www",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  "server": {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    "url": "https://你的域名/chat.html",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    "cleartext": true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  "android": {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    "allowMixedContent": true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6A6A6A"/>
                </a:solidFill>
                <a:latin typeface="Calibri"/>
              </a:defRPr>
            </a:pPr>
            <a:r>
              <a:t>appId — 你的包名，格式 com.xxx.xxx</a:t>
            </a:r>
          </a:p>
          <a:p>
            <a:pPr>
              <a:spcAft>
                <a:spcPts val="840"/>
              </a:spcAft>
              <a:defRPr sz="1400">
                <a:solidFill>
                  <a:srgbClr val="6A6A6A"/>
                </a:solidFill>
                <a:latin typeface="Calibri"/>
              </a:defRPr>
            </a:pPr>
            <a:r>
              <a:t>appName — APP显示名</a:t>
            </a:r>
          </a:p>
          <a:p>
            <a:pPr>
              <a:spcAft>
                <a:spcPts val="840"/>
              </a:spcAft>
              <a:defRPr sz="1400">
                <a:solidFill>
                  <a:srgbClr val="6A6A6A"/>
                </a:solidFill>
                <a:latin typeface="Calibri"/>
              </a:defRPr>
            </a:pPr>
            <a:r>
              <a:t>webDir — 本地文件目录（必填）</a:t>
            </a:r>
          </a:p>
          <a:p>
            <a:pPr>
              <a:spcAft>
                <a:spcPts val="840"/>
              </a:spcAft>
              <a:defRPr sz="1400">
                <a:solidFill>
                  <a:srgbClr val="6A6A6A"/>
                </a:solidFill>
                <a:latin typeface="Calibri"/>
              </a:defRPr>
            </a:pPr>
            <a:r>
              <a:t>server.url — 你的前端网址</a:t>
            </a:r>
          </a:p>
          <a:p>
            <a:pPr>
              <a:spcAft>
                <a:spcPts val="840"/>
              </a:spcAft>
              <a:defRPr sz="1400">
                <a:solidFill>
                  <a:srgbClr val="6A6A6A"/>
                </a:solidFill>
                <a:latin typeface="Calibri"/>
              </a:defRPr>
            </a:pPr>
            <a:r>
              <a:t>  本地HTML模式不需要这行</a:t>
            </a:r>
          </a:p>
          <a:p>
            <a:pPr>
              <a:spcAft>
                <a:spcPts val="840"/>
              </a:spcAft>
              <a:defRPr sz="1400">
                <a:solidFill>
                  <a:srgbClr val="6A6A6A"/>
                </a:solidFill>
                <a:latin typeface="Calibri"/>
              </a:defRPr>
            </a:pPr>
            <a:r>
              <a:t>cleartext — 允许http（非https）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635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第三步 ~ 第五步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添加安卓平台 → 打开 Android Studio → 配置图标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第三步：添加安卓平台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651760"/>
            <a:ext cx="4572000" cy="640080"/>
          </a:xfrm>
          <a:prstGeom prst="roundRect">
            <a:avLst>
              <a:gd name="adj" fmla="val 2000"/>
            </a:avLst>
          </a:prstGeom>
          <a:solidFill>
            <a:srgbClr val="2C2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spcAft>
                <a:spcPts val="200"/>
              </a:spcAft>
              <a:defRPr sz="1500">
                <a:solidFill>
                  <a:srgbClr val="E8E5DC"/>
                </a:solidFill>
                <a:latin typeface="Consolas"/>
              </a:defRPr>
            </a:pPr>
            <a:r>
              <a:t>npx cap add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第四步：打开 Android Studio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114800"/>
            <a:ext cx="4572000" cy="640080"/>
          </a:xfrm>
          <a:prstGeom prst="roundRect">
            <a:avLst>
              <a:gd name="adj" fmla="val 2000"/>
            </a:avLst>
          </a:prstGeom>
          <a:solidFill>
            <a:srgbClr val="2C2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spcAft>
                <a:spcPts val="200"/>
              </a:spcAft>
              <a:defRPr sz="1500">
                <a:solidFill>
                  <a:srgbClr val="E8E5DC"/>
                </a:solidFill>
                <a:latin typeface="Consolas"/>
              </a:defRPr>
            </a:pPr>
            <a:r>
              <a:t>npx cap open 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第五步：配置APP图标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准备 1024×1024 PNG 图标（背景透明）</a:t>
            </a:r>
          </a:p>
          <a:p>
            <a:pPr>
              <a:spcAft>
                <a:spcPts val="900"/>
              </a:spcAft>
              <a:defRPr sz="15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在 Android Studio 里：</a:t>
            </a:r>
          </a:p>
          <a:p>
            <a:pPr>
              <a:spcAft>
                <a:spcPts val="9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1. 右键 app/src/main/res</a:t>
            </a:r>
          </a:p>
          <a:p>
            <a:pPr>
              <a:spcAft>
                <a:spcPts val="9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2. → New → Image Asset</a:t>
            </a:r>
          </a:p>
          <a:p>
            <a:pPr>
              <a:spcAft>
                <a:spcPts val="9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3. 选你的图标，调圆角和边距</a:t>
            </a:r>
          </a:p>
          <a:p>
            <a:pPr>
              <a:spcAft>
                <a:spcPts val="9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4. Next → Finish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635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第六步：添加灵动岛 🏝️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最酷的部分！创建悬浮窗服务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核心原理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1.  用 WindowManager 创建一个系统悬浮窗（TYPE_APPLICATION_OVERLAY）</a:t>
            </a:r>
          </a:p>
          <a:p>
            <a:pPr>
              <a:spcAft>
                <a:spcPts val="96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2.  画一个黑色圆角药丸（模仿iPhone灵动岛外观）</a:t>
            </a:r>
          </a:p>
          <a:p>
            <a:pPr>
              <a:spcAft>
                <a:spcPts val="96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3.  收到消息时用动画展开显示内容，几秒后自动收回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A7757"/>
                </a:solidFill>
                <a:latin typeface="Calibri"/>
              </a:defRPr>
            </a:pPr>
            <a:r>
              <a:t>6.1  添加权限（AndroidManifest.xml）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480560"/>
            <a:ext cx="10058400" cy="1097280"/>
          </a:xfrm>
          <a:prstGeom prst="roundRect">
            <a:avLst>
              <a:gd name="adj" fmla="val 2000"/>
            </a:avLst>
          </a:prstGeom>
          <a:solidFill>
            <a:srgbClr val="2C2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&lt;uses-permission android:name="android.permission.SYSTEM_ALERT_WINDOW" /&gt;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&lt;uses-permission android:name="android.permission.POST_NOTIFICATIONS" /&gt;</a:t>
            </a:r>
          </a:p>
          <a:p>
            <a:pPr>
              <a:spcAft>
                <a:spcPts val="200"/>
              </a:spcAft>
              <a:defRPr sz="1400">
                <a:solidFill>
                  <a:srgbClr val="E8E5DC"/>
                </a:solidFill>
                <a:latin typeface="Consolas"/>
              </a:defRPr>
            </a:pPr>
            <a:r>
              <a:t>&lt;uses-permission android:name="android.permission.FOREGROUND_SERVICE" /&gt;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完整的 IslandService.java 代码见 GitHub 仓库 → docs/basic.md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635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第六步（续）：灵动岛关键代码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IslandService.java 核心片段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2C2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// 悬浮窗参数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WindowManager.LayoutParams params =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new WindowManager.LayoutParams(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pillWidthPx, pillHeightPx,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TYPE_APPLICATION_OVERLAY,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FLAG_NOT_FOCUSABLE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  | FLAG_NOT_TOUCH_MODAL,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PixelFormat.TRANSLUCENT);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params.gravity =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Gravity.TOP | Gravity.CENTER_HORIZONTAL;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// 黑色圆角背景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GradientDrawable bg =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new GradientDrawable();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bg.setColor(0xFF000000);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bg.setCornerRadius(cornerPx);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2C2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// 展开动画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ValueAnimator expandAnim =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ValueAnimator.ofFloat(0f, 1f);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expandAnim.setDuration(500);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expandAnim.setInterpolator(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new OvershootInterpolator(0.8f));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expandAnim.addUpdateListener(anim -&gt; {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float f = (float)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anim.getAnimatedValue();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params.width = (int)(pillW +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(expandedW - pillW) * f);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params.height = (int)(pillH +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(expandedH - pillH) * f);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windowManager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.updateViewLayout(view, params);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635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第六步（续）：前端调用灵动岛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JSBridge 连接前端和原生服务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A7757"/>
                </a:solidFill>
                <a:latin typeface="Calibri"/>
              </a:defRPr>
            </a:pPr>
            <a:r>
              <a:t>6.4  在 MainActivity 注册 JSBridge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651760"/>
            <a:ext cx="4846320" cy="2743200"/>
          </a:xfrm>
          <a:prstGeom prst="roundRect">
            <a:avLst>
              <a:gd name="adj" fmla="val 2000"/>
            </a:avLst>
          </a:prstGeom>
          <a:solidFill>
            <a:srgbClr val="2C2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// MainActivity.java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getBridge().getWebView()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.addJavascriptInterface(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new AppBridge(), "MyApp");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class AppBridge {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@JavascriptInterface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public void showIsland(String msg) {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Intent i = new Intent(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  MainActivity.this,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  IslandService.class);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i.putExtra("action", "show");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i.putExtra("message", msg);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startService(i);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A7757"/>
                </a:solidFill>
                <a:latin typeface="Calibri"/>
              </a:defRPr>
            </a:pPr>
            <a:r>
              <a:t>6.5  前端JS调用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651760"/>
            <a:ext cx="5029200" cy="1828800"/>
          </a:xfrm>
          <a:prstGeom prst="roundRect">
            <a:avLst>
              <a:gd name="adj" fmla="val 2000"/>
            </a:avLst>
          </a:prstGeom>
          <a:solidFill>
            <a:srgbClr val="2C2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 bIns="152400"/>
          <a:lstStyle/>
          <a:p>
            <a:pPr algn="ctr"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// 你的前端页面里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function onAIReply(text) {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// 正常显示在聊天界面...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// 如果在APP内，弹灵动岛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if (window.MyApp) {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window.MyApp.showIsland(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  text.substring(0, 100)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300">
                <a:solidFill>
                  <a:srgbClr val="E8E5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846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💡 window.MyApp 只在APP内有效。浏览器里是 undefined，不会报错，完全兼容。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635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第七步 ~ 第九步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同步 → 打包APK → 安装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103120"/>
            <a:ext cx="10058400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228092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79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同步代码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53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A7757"/>
                </a:solidFill>
                <a:latin typeface="Calibri"/>
              </a:defRPr>
            </a:pPr>
            <a:r>
              <a:t>npx cap sync 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每次改完文件都要同步一下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474720"/>
            <a:ext cx="10058400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80160" y="365252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550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打包APK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0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A7757"/>
                </a:solidFill>
                <a:latin typeface="Calibri"/>
              </a:defRPr>
            </a:pPr>
            <a:r>
              <a:t>Build → Build APK(s)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03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APK在 app/build/outputs/apk/debug/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846320"/>
            <a:ext cx="10058400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80160" y="502412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922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安装到手机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278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A7757"/>
                </a:solidFill>
                <a:latin typeface="Calibri"/>
              </a:defRPr>
            </a:pPr>
            <a:r>
              <a:t>传APK到手机安装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74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允许悬浮窗 + 通知权限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635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常见问题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Q: APP打开是白屏？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1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A: 检查 capacitor.config.json 里的 server.url 是否正确，手机能不能访问这个网址。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Q: 灵动岛没有弹出来？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13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A: 检查"显示在其他应用上层"权限是否开启。设置 → 应用 → 你的APP → 权限 → 悬浮窗。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Q: 前端API调用失败？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11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A: 如果API是http不是https，需要加 cleartext: true 和 android:usesCleartextTraffic="true"。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Q: 灵动岛在APP外能显示吗？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608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A: 可以！TYPE_APPLICATION_OVERLAY 在任何界面都能弹出，只要授予悬浮窗权限且服务在运行中。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63500" cy="457200"/>
          </a:xfrm>
          <a:prstGeom prst="roundRect">
            <a:avLst>
              <a:gd name="adj" fmla="val 50000"/>
            </a:avLst>
          </a:prstGeom>
          <a:solidFill>
            <a:srgbClr val="DA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进阶预告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有服务器的话，还能做到更多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128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推送通知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53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A6A"/>
                </a:solidFill>
                <a:latin typeface="Calibri"/>
              </a:defRPr>
            </a:pPr>
            <a:r>
              <a:t>AI主动发消息，不需要你打开APP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951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状态上报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9768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A6A"/>
                </a:solidFill>
                <a:latin typeface="Calibri"/>
              </a:defRPr>
            </a:pPr>
            <a:r>
              <a:t>AI知道你电量多少、在用什么APP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49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👁️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774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远程截屏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7998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A6A"/>
                </a:solidFill>
                <a:latin typeface="Calibri"/>
              </a:defRPr>
            </a:pPr>
            <a:r>
              <a:t>AI能看到你的屏幕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59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远程控制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622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A6A"/>
                </a:solidFill>
                <a:latin typeface="Calibri"/>
              </a:defRPr>
            </a:pPr>
            <a:r>
              <a:t>AI帮你锁屏、设闹钟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42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图标切换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445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A6A"/>
                </a:solidFill>
                <a:latin typeface="Calibri"/>
              </a:defRPr>
            </a:pPr>
            <a:r>
              <a:t>节日/季节/生日自动换APP图标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A7757"/>
                </a:solidFill>
                <a:latin typeface="Calibri"/>
              </a:defRPr>
            </a:pPr>
            <a:r>
              <a:t>👉 进阶篇教程见 GitHub 仓库：github.com/ziyaxd23/ai-island-tutorial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D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FD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Calibri"/>
              </a:defRPr>
            </a:pPr>
            <a:r>
              <a:t>看不懂？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A6A6A"/>
                </a:solidFill>
                <a:latin typeface="Calibri"/>
              </a:defRPr>
            </a:pPr>
            <a:r>
              <a:t>把这个教程丢给你的小机看，让它一步步教你！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A6A6A"/>
                </a:solidFill>
                <a:latin typeface="Calibri"/>
              </a:defRPr>
            </a:pPr>
            <a:r>
              <a:t>AI读教程比人快，还能帮你排错～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A7757"/>
                </a:solidFill>
                <a:latin typeface="Calibri"/>
              </a:defRPr>
            </a:pPr>
            <a:r>
              <a:t>GitHub  ·  github.com/ziyaxd23/ai-island-tutorial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A6A"/>
                </a:solidFill>
                <a:latin typeface="Calibri"/>
              </a:defRPr>
            </a:pPr>
            <a:r>
              <a:t>Made with ❤️ by 雾化铜 &amp; Clo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